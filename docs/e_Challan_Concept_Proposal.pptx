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5778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778"/>
                </a:solidFill>
              </a:defRPr>
            </a:pPr>
            <a:r>
              <a:t>Safety Violation</a:t>
            </a:r>
          </a:p>
          <a:p>
            <a:pPr>
              <a:defRPr sz="3800" b="1">
                <a:solidFill>
                  <a:srgbClr val="1E66BE"/>
                </a:solidFill>
              </a:defRPr>
            </a:pPr>
            <a:r>
              <a:t>e-Challan System</a:t>
            </a:r>
          </a:p>
          <a:p>
            <a:pPr>
              <a:defRPr sz="1900">
                <a:solidFill>
                  <a:srgbClr val="697380"/>
                </a:solidFill>
              </a:defRPr>
            </a:pPr>
            <a:r>
              <a:t>Concept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From Paper Challans to Smart Digital Compliance</a:t>
            </a:r>
          </a:p>
          <a:p>
            <a:pPr>
              <a:defRPr sz="1500">
                <a:solidFill>
                  <a:srgbClr val="697380"/>
                </a:solidFill>
              </a:defRPr>
            </a:pPr>
            <a:r>
              <a:t>Tablet-based entry • Digital signature • Photo evidence • Central reporting</a:t>
            </a:r>
          </a:p>
        </p:txBody>
      </p:sp>
      <p:pic>
        <p:nvPicPr>
          <p:cNvPr id="6" name="Picture 5" descr="B5B7836A-F8E3-406B-BA11-47AB2A2072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166360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Prepared for discussion | Security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Current Process – Paper Challan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Existing approach and practical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B37"/>
                </a:solidFill>
              </a:defRPr>
            </a:pPr>
            <a:r>
              <a:t>• Manual paper challan preparation at the gate / traffic point</a:t>
            </a:r>
          </a:p>
          <a:p>
            <a:pPr>
              <a:spcAft>
                <a:spcPts val="1200"/>
              </a:spcAft>
              <a:defRPr sz="2000">
                <a:solidFill>
                  <a:srgbClr val="232B37"/>
                </a:solidFill>
              </a:defRPr>
            </a:pPr>
            <a:r>
              <a:t>• Driver signature and supporting details handled physically</a:t>
            </a:r>
          </a:p>
          <a:p>
            <a:pPr>
              <a:spcAft>
                <a:spcPts val="1200"/>
              </a:spcAft>
              <a:defRPr sz="2000">
                <a:solidFill>
                  <a:srgbClr val="232B37"/>
                </a:solidFill>
              </a:defRPr>
            </a:pPr>
            <a:r>
              <a:t>• Records require manual compilation and filing</a:t>
            </a:r>
          </a:p>
          <a:p>
            <a:pPr>
              <a:spcAft>
                <a:spcPts val="1200"/>
              </a:spcAft>
              <a:defRPr sz="2000">
                <a:solidFill>
                  <a:srgbClr val="232B37"/>
                </a:solidFill>
              </a:defRPr>
            </a:pPr>
            <a:r>
              <a:t>• Finding old challans or preparing periodic reports takes time</a:t>
            </a:r>
          </a:p>
          <a:p>
            <a:pPr>
              <a:spcAft>
                <a:spcPts val="1200"/>
              </a:spcAft>
              <a:defRPr sz="2000">
                <a:solidFill>
                  <a:srgbClr val="232B37"/>
                </a:solidFill>
              </a:defRPr>
            </a:pPr>
            <a:r>
              <a:t>• Limited visibility of violation trends and repeat violations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71600"/>
            <a:ext cx="4754880" cy="4251960"/>
          </a:xfrm>
          <a:prstGeom prst="roundRect">
            <a:avLst/>
          </a:prstGeom>
          <a:solidFill>
            <a:srgbClr val="F2F7FD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380"/>
                </a:solidFill>
              </a:defRPr>
            </a:pPr>
            <a:r>
              <a:t>Paper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3778"/>
                </a:solidFill>
              </a:defRPr>
            </a:pPr>
            <a: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3957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380"/>
                </a:solidFill>
              </a:defRPr>
            </a:pPr>
            <a:r>
              <a:t>Signature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36829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3778"/>
                </a:solidFill>
              </a:defRPr>
            </a:pPr>
            <a:r>
              <a:t>Physical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4553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380"/>
                </a:solidFill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1810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3778"/>
                </a:solidFill>
              </a:defRPr>
            </a:pPr>
            <a:r>
              <a:t>Separate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89534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380"/>
                </a:solidFill>
              </a:defRPr>
            </a:pPr>
            <a:r>
              <a:t>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867911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3778"/>
                </a:solidFill>
              </a:defRPr>
            </a:pPr>
            <a:r>
              <a:t>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6451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380"/>
                </a:solidFill>
              </a:defRPr>
            </a:pPr>
            <a:r>
              <a:t>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1772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3778"/>
                </a:solidFill>
              </a:defRPr>
            </a:pPr>
            <a:r>
              <a:t>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Proposed Solution – Tablet e-Challan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Traffic Marshal completes the challan directly on a tablet</a:t>
            </a:r>
          </a:p>
        </p:txBody>
      </p:sp>
      <p:pic>
        <p:nvPicPr>
          <p:cNvPr id="5" name="Picture 4" descr="B5B7836A-F8E3-406B-BA11-47AB2A2072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1323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2588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Auto-generated challan number and date/time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Vehicle, driver and department details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Standardized safety violation selection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Remarks and photo capture for evidence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Driver signs directly on the tablet</a:t>
            </a:r>
          </a:p>
          <a:p>
            <a:pPr>
              <a:spcAft>
                <a:spcPts val="1200"/>
              </a:spcAft>
              <a:defRPr sz="1700">
                <a:solidFill>
                  <a:srgbClr val="232B37"/>
                </a:solidFill>
              </a:defRPr>
            </a:pPr>
            <a:r>
              <a:t>• One-touch Generate Challan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Simple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A complete digital flow from violation to report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Traffic Marshal observes violation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14173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270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5623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Vehicle + driver + violation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4173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270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85623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Photo evidence + remarks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747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564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13631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Driver signs on tablet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34747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5844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4564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913631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e-Challan created instantly</a:t>
            </a:r>
          </a:p>
        </p:txBody>
      </p:sp>
      <p:sp>
        <p:nvSpPr>
          <p:cNvPr id="25" name="Oval 24"/>
          <p:cNvSpPr/>
          <p:nvPr/>
        </p:nvSpPr>
        <p:spPr>
          <a:xfrm>
            <a:off x="8092440" y="3474720"/>
            <a:ext cx="566928" cy="566928"/>
          </a:xfrm>
          <a:prstGeom prst="ellipse">
            <a:avLst/>
          </a:prstGeom>
          <a:solidFill>
            <a:srgbClr val="1E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58444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4564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A3778"/>
                </a:solidFill>
              </a:defRPr>
            </a:pPr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13631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80"/>
                </a:solidFill>
              </a:defRPr>
            </a:pPr>
            <a:r>
              <a:t>Record available for dashboard /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Admin Dashboard &amp; Excel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Simple management view for Security / authorized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42316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t>Total Challans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64208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3778"/>
                </a:solidFill>
              </a:defRPr>
            </a:pPr>
            <a:r>
              <a:t>156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42316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t>Today's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664208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3778"/>
                </a:solidFill>
              </a:defRPr>
            </a:pPr>
            <a: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2316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t>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8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3778"/>
                </a:solidFill>
              </a:defRPr>
            </a:pPr>
            <a: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234440"/>
            <a:ext cx="242316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1" y="13898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1" y="1664208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3778"/>
                </a:solidFill>
              </a:defRPr>
            </a:pPr>
            <a:r>
              <a:t>07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2606040"/>
          <a:ext cx="8961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51560"/>
                <a:gridCol w="1508760"/>
                <a:gridCol w="1508760"/>
                <a:gridCol w="2057400"/>
                <a:gridCol w="1325880"/>
              </a:tblGrid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Challan No.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Vehicle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A377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DMD/2025/08/001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09/08/25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MH12AB1234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Ramesh Kumar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No Seat Belt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DMD/2025/08/002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09/08/25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MH14CD5678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Amit Singh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No Helmet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DMD/2025/08/003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09/08/25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MH12EF9012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S. Patil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Over Speeding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DMD/2025/08/004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09/08/25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MH12GH3456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R. Sharma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Mobile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7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915400" y="5349240"/>
            <a:ext cx="2651760" cy="566928"/>
          </a:xfrm>
          <a:prstGeom prst="roundRect">
            <a:avLst/>
          </a:prstGeom>
          <a:solidFill>
            <a:srgbClr val="1E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547725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Download Excel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Key Benefits &amp;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0"/>
                </a:solidFill>
              </a:defRPr>
            </a:pPr>
            <a:r>
              <a:t>Simple, practical and scalable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Paperless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39" y="135331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Reduce manual challan paperwork and filing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8074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5331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Complete challan creation at the point of violation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9806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Traceable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77063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Each challan gets a unique digital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5176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9806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7063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Photo + remarks + driver signature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1538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39" y="418795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Filter records and download Excel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69080"/>
            <a:ext cx="5212080" cy="1051560"/>
          </a:xfrm>
          <a:prstGeom prst="roundRect">
            <a:avLst/>
          </a:prstGeom>
          <a:solidFill>
            <a:srgbClr val="F2F7FD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1538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3778"/>
                </a:solidFill>
              </a:defRPr>
            </a:pPr>
            <a:r>
              <a:t>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87952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7"/>
                </a:solidFill>
              </a:defRPr>
            </a:pPr>
            <a:r>
              <a:t>Understand violation trends and recurring issues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927080" cy="594360"/>
          </a:xfrm>
          <a:prstGeom prst="roundRect">
            <a:avLst/>
          </a:prstGeom>
          <a:solidFill>
            <a:srgbClr val="0A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561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Next Step: Review the concept → approve the basic workflow → develop a pilot web application.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</a:defRPr>
            </a:pPr>
            <a:r>
              <a:t>Concept Proposal • Reliance DMD Security •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